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D4E2A1-68D2-4759-AB8A-BEB8D871AB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921B47-95BB-476A-8A29-28289C001F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246020-7C6F-47C0-82E8-45BCC58D7E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7D29D2-8F65-41E0-A2FA-F5AEA2D6EF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1818D9-2F50-4BC0-A0C9-3618B2B616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B11510-219C-4806-A5CB-5190433FE2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EAA686-D3C1-43E9-B0AC-6A455323B9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48663E-73A6-4C20-B159-BF738B2000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1153D6-4D41-4FEB-AD71-15E1ADD772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227C61-6EF5-4D2D-8021-6A0F3E6231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257526-1278-4D18-A03B-585F93F35D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159D6A-4272-4F77-A5E3-781A55C42C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47400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3474720" y="0"/>
            <a:ext cx="5668560" cy="163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657600" y="411480"/>
            <a:ext cx="5302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657600" y="822960"/>
            <a:ext cx="530280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CSV to XML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 Mapping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657600" y="2331720"/>
            <a:ext cx="530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EC8D0"/>
                </a:solidFill>
                <a:effectLst/>
                <a:uFillTx/>
                <a:latin typeface="Calibri"/>
                <a:ea typeface="Calibri"/>
              </a:rPr>
              <a:t>Designing, compiling and executing CSV_XML_SSY.mxl in the Map Editor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274320" y="73152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274320" y="12801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EEF2"/>
                </a:solidFill>
                <a:effectLst/>
                <a:uFillTx/>
                <a:latin typeface="Calibri"/>
                <a:ea typeface="Calibri"/>
              </a:rPr>
              <a:t>Source CSV Fields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457200" y="1645920"/>
            <a:ext cx="2560320" cy="360"/>
          </a:xfrm>
          <a:prstGeom prst="line">
            <a:avLst/>
          </a:prstGeom>
          <a:ln w="12700">
            <a:solidFill>
              <a:srgbClr val="49A8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74320" y="173736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74320" y="228600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EEF2"/>
                </a:solidFill>
                <a:effectLst/>
                <a:uFillTx/>
                <a:latin typeface="Calibri"/>
                <a:ea typeface="Calibri"/>
              </a:rPr>
              <a:t>Target XML Elements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457200" y="2651760"/>
            <a:ext cx="2560320" cy="360"/>
          </a:xfrm>
          <a:prstGeom prst="line">
            <a:avLst/>
          </a:prstGeom>
          <a:ln w="12700">
            <a:solidFill>
              <a:srgbClr val="49A8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274320" y="274320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9999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274320" y="329184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EEF2"/>
                </a:solidFill>
                <a:effectLst/>
                <a:uFillTx/>
                <a:latin typeface="Calibri"/>
                <a:ea typeface="Calibri"/>
              </a:rPr>
              <a:t>Max Employee Loop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457200" y="3657600"/>
            <a:ext cx="2560320" cy="360"/>
          </a:xfrm>
          <a:prstGeom prst="line">
            <a:avLst/>
          </a:prstGeom>
          <a:ln w="12700">
            <a:solidFill>
              <a:srgbClr val="49A8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274320" y="374904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274320" y="429768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EEF2"/>
                </a:solidFill>
                <a:effectLst/>
                <a:uFillTx/>
                <a:latin typeface="Calibri"/>
                <a:ea typeface="Calibri"/>
              </a:rPr>
              <a:t>Extended Rules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3657600" y="429768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EC8D0"/>
                </a:solidFill>
                <a:effectLst/>
                <a:uFillTx/>
                <a:latin typeface="Calibri"/>
                <a:ea typeface="Calibri"/>
              </a:rPr>
              <a:t>Prepared by Shashank  ·  LVT Labs  ·  June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3657600" y="461772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EC8D0"/>
                </a:solidFill>
                <a:effectLst/>
                <a:uFillTx/>
                <a:latin typeface="Calibri"/>
                <a:ea typeface="Calibri"/>
              </a:rPr>
              <a:t>File: CSV_XML_SSY.mxl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7455960" y="3618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The CSV Input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Source side: delimited records that feed the 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2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228600" y="1078920"/>
            <a:ext cx="411408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320040" y="11156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sample.txt  —  Notepad++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320040" y="1389600"/>
            <a:ext cx="3840480" cy="360"/>
          </a:xfrm>
          <a:prstGeom prst="line">
            <a:avLst/>
          </a:prstGeom>
          <a:ln w="12700">
            <a:solidFill>
              <a:srgbClr val="D0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320040" y="1444680"/>
            <a:ext cx="273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7D8B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640080" y="144468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NAME,AMOUNT,INVOICE,DATE,CITY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320040" y="1764720"/>
            <a:ext cx="273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7D8B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640080" y="176472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shashank,1000,INV001,20260120,Vizianagaram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320040" y="2084760"/>
            <a:ext cx="273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7D8B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640080" y="208476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mahesh,400,INV002,20250506,Vizag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320040" y="2404800"/>
            <a:ext cx="273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7D8B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640080" y="240480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sai,3200,INV003,20260122,Srikakulam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4526280" y="1078920"/>
            <a:ext cx="4388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Structure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4526280" y="1426320"/>
            <a:ext cx="255240" cy="255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4526280" y="14263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4873680" y="1426320"/>
            <a:ext cx="4068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Header record (line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4873680" y="1664280"/>
            <a:ext cx="406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Column names: NAME, AMOUNT, INVOICE, DATE, CITY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3"/>
          <p:cNvSpPr/>
          <p:nvPr/>
        </p:nvSpPr>
        <p:spPr>
          <a:xfrm>
            <a:off x="4526280" y="2084760"/>
            <a:ext cx="255240" cy="255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4526280" y="208476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4873680" y="2084760"/>
            <a:ext cx="4068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Detail records (lines 2–4)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4873680" y="2322720"/>
            <a:ext cx="406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3 employee rows, comma-separated values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7"/>
          <p:cNvSpPr/>
          <p:nvPr/>
        </p:nvSpPr>
        <p:spPr>
          <a:xfrm>
            <a:off x="4526280" y="2743200"/>
            <a:ext cx="255240" cy="255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8"/>
          <p:cNvSpPr/>
          <p:nvPr/>
        </p:nvSpPr>
        <p:spPr>
          <a:xfrm>
            <a:off x="4526280" y="27432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9"/>
          <p:cNvSpPr/>
          <p:nvPr/>
        </p:nvSpPr>
        <p:spPr>
          <a:xfrm>
            <a:off x="4873680" y="2743200"/>
            <a:ext cx="4068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Field delimiter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0"/>
          <p:cNvSpPr/>
          <p:nvPr/>
        </p:nvSpPr>
        <p:spPr>
          <a:xfrm>
            <a:off x="4873680" y="2980800"/>
            <a:ext cx="406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Comma ( , ) separates each field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1"/>
          <p:cNvSpPr/>
          <p:nvPr/>
        </p:nvSpPr>
        <p:spPr>
          <a:xfrm>
            <a:off x="4526280" y="3401640"/>
            <a:ext cx="255240" cy="255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2"/>
          <p:cNvSpPr/>
          <p:nvPr/>
        </p:nvSpPr>
        <p:spPr>
          <a:xfrm>
            <a:off x="4526280" y="340164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3"/>
          <p:cNvSpPr/>
          <p:nvPr/>
        </p:nvSpPr>
        <p:spPr>
          <a:xfrm>
            <a:off x="4873680" y="3401640"/>
            <a:ext cx="4068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Record delimiter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4"/>
          <p:cNvSpPr/>
          <p:nvPr/>
        </p:nvSpPr>
        <p:spPr>
          <a:xfrm>
            <a:off x="4873680" y="3639240"/>
            <a:ext cx="406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Newline ( CR/LF ) ends every record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5"/>
          <p:cNvSpPr/>
          <p:nvPr/>
        </p:nvSpPr>
        <p:spPr>
          <a:xfrm>
            <a:off x="4526280" y="4060080"/>
            <a:ext cx="255240" cy="255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6"/>
          <p:cNvSpPr/>
          <p:nvPr/>
        </p:nvSpPr>
        <p:spPr>
          <a:xfrm>
            <a:off x="4526280" y="40600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7"/>
          <p:cNvSpPr/>
          <p:nvPr/>
        </p:nvSpPr>
        <p:spPr>
          <a:xfrm>
            <a:off x="4873680" y="4060080"/>
            <a:ext cx="4068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Variable length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8"/>
          <p:cNvSpPr/>
          <p:nvPr/>
        </p:nvSpPr>
        <p:spPr>
          <a:xfrm>
            <a:off x="4873680" y="4297680"/>
            <a:ext cx="406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Fields can be any width — no fixed positions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9"/>
          <p:cNvSpPr/>
          <p:nvPr/>
        </p:nvSpPr>
        <p:spPr>
          <a:xfrm>
            <a:off x="228600" y="4663440"/>
            <a:ext cx="8686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In the map, this CSV is modeled by INPUT → Header (C‑1) + Employee_Data (C‑9999) with 8 child fields each.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The XML Output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Target side: hierarchical tagged data wrapping every value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3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28600" y="1078920"/>
            <a:ext cx="457128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320040" y="111564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MapTestTxResult.txt  —  XML Output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320040" y="1389600"/>
            <a:ext cx="4297680" cy="360"/>
          </a:xfrm>
          <a:prstGeom prst="line">
            <a:avLst/>
          </a:prstGeom>
          <a:ln w="12700">
            <a:solidFill>
              <a:srgbClr val="D0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320040" y="1426320"/>
            <a:ext cx="4342680" cy="3062520"/>
          </a:xfrm>
          <a:prstGeom prst="rect">
            <a:avLst/>
          </a:prstGeom>
          <a:solidFill>
            <a:srgbClr val="1E2B32"/>
          </a:solidFill>
          <a:ln w="12700">
            <a:solidFill>
              <a:srgbClr val="0D2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411480" y="146304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EC8D0"/>
                </a:solidFill>
                <a:effectLst/>
                <a:uFillTx/>
                <a:latin typeface="Consolas"/>
                <a:ea typeface="Consolas"/>
              </a:rPr>
              <a:t>&lt;?xml version="1.0" ... ?&gt;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411480" y="171900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&lt;OUTPUT&gt;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411480" y="197496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&lt;DATA&gt;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411480" y="223128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&lt;NAME&gt;shashank&lt;/NAME&gt;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411480" y="248724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&lt;AMOUNT&gt;1000&lt;/AMOUNT&gt;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411480" y="274320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&lt;INVOICE&gt;INV001&lt;/INVOICE&gt;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411480" y="299916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&lt;DATE&gt;20260120&lt;/DATE&gt;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411480" y="325512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&lt;CITY&gt;Vizianagaram&lt;/CITY&gt;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411480" y="351144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&lt;/DATA&gt;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411480" y="376740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&lt;DATA&gt; ... &lt;/DATA&gt;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411480" y="4023360"/>
            <a:ext cx="4159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&lt;/OUTPUT&gt;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4983480" y="107892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XML Concepts in This Map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3"/>
          <p:cNvSpPr/>
          <p:nvPr/>
        </p:nvSpPr>
        <p:spPr>
          <a:xfrm>
            <a:off x="4983480" y="1417320"/>
            <a:ext cx="3931200" cy="80388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5074920" y="146304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Root Element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5074920" y="169164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&lt;OUTPUT&gt;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5074920" y="192024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Top-level container — appears exactly once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7"/>
          <p:cNvSpPr/>
          <p:nvPr/>
        </p:nvSpPr>
        <p:spPr>
          <a:xfrm>
            <a:off x="4983480" y="2267640"/>
            <a:ext cx="3931200" cy="80388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5074920" y="23133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Repeating Element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5074920" y="254196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&lt;DATA&gt;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0"/>
          <p:cNvSpPr/>
          <p:nvPr/>
        </p:nvSpPr>
        <p:spPr>
          <a:xfrm>
            <a:off x="5074920" y="277056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One per input row — loops up to 999×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1"/>
          <p:cNvSpPr/>
          <p:nvPr/>
        </p:nvSpPr>
        <p:spPr>
          <a:xfrm>
            <a:off x="4983480" y="3117960"/>
            <a:ext cx="3931200" cy="80388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2"/>
          <p:cNvSpPr/>
          <p:nvPr/>
        </p:nvSpPr>
        <p:spPr>
          <a:xfrm>
            <a:off x="5074920" y="316368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Leaf Elements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3"/>
          <p:cNvSpPr/>
          <p:nvPr/>
        </p:nvSpPr>
        <p:spPr>
          <a:xfrm>
            <a:off x="5074920" y="339228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&lt;NAME&gt; &lt;AMOUNT&gt;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&lt;INVOICE&gt; &lt;DATE&gt; &lt;CITY&gt;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4"/>
          <p:cNvSpPr/>
          <p:nvPr/>
        </p:nvSpPr>
        <p:spPr>
          <a:xfrm>
            <a:off x="5074920" y="362088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Hold the actual PCDATA values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5"/>
          <p:cNvSpPr/>
          <p:nvPr/>
        </p:nvSpPr>
        <p:spPr>
          <a:xfrm>
            <a:off x="4983480" y="3968640"/>
            <a:ext cx="3931200" cy="80388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5074920" y="40143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PCDATA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7"/>
          <p:cNvSpPr/>
          <p:nvPr/>
        </p:nvSpPr>
        <p:spPr>
          <a:xfrm>
            <a:off x="5074920" y="424296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shashank · 1000 · INV001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8"/>
          <p:cNvSpPr/>
          <p:nvPr/>
        </p:nvSpPr>
        <p:spPr>
          <a:xfrm>
            <a:off x="5074920" y="447156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Parsed character data — the mapped content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XML Schema Hierarchy  ·  MXL Output Side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How the OUTPUT tree is structured in Map Editor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4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228600" y="96012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OUTPUT Branching Diagram (from Print-to-File)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228600" y="1353240"/>
            <a:ext cx="3199680" cy="365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228600" y="1353240"/>
            <a:ext cx="3199680" cy="365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320040" y="140832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OUTPUT  (M ·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960120" y="1810440"/>
            <a:ext cx="2925360" cy="36504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960120" y="1810440"/>
            <a:ext cx="2925360" cy="36504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051560" y="1865520"/>
            <a:ext cx="2833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DATA  (C · 0..999)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365760" y="1993320"/>
            <a:ext cx="594360" cy="3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1691640" y="2267640"/>
            <a:ext cx="265104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DE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783080" y="232272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NAME  (M ·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1097280" y="2450520"/>
            <a:ext cx="594360" cy="3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1691640" y="2724840"/>
            <a:ext cx="265104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DE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1783080" y="277992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AMOUNT  (M ·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1097280" y="2907720"/>
            <a:ext cx="594360" cy="3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1"/>
          <p:cNvSpPr/>
          <p:nvPr/>
        </p:nvSpPr>
        <p:spPr>
          <a:xfrm>
            <a:off x="1691640" y="3182040"/>
            <a:ext cx="265104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DE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1783080" y="323712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INVOICE  (M ·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1097280" y="3364920"/>
            <a:ext cx="594360" cy="3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4"/>
          <p:cNvSpPr/>
          <p:nvPr/>
        </p:nvSpPr>
        <p:spPr>
          <a:xfrm>
            <a:off x="1691640" y="3639240"/>
            <a:ext cx="265104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DE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1783080" y="369432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DATE  (M ·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6"/>
          <p:cNvSpPr/>
          <p:nvPr/>
        </p:nvSpPr>
        <p:spPr>
          <a:xfrm>
            <a:off x="1097280" y="3822120"/>
            <a:ext cx="594360" cy="3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7"/>
          <p:cNvSpPr/>
          <p:nvPr/>
        </p:nvSpPr>
        <p:spPr>
          <a:xfrm>
            <a:off x="1691640" y="4096440"/>
            <a:ext cx="265104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DE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8"/>
          <p:cNvSpPr/>
          <p:nvPr/>
        </p:nvSpPr>
        <p:spPr>
          <a:xfrm>
            <a:off x="1783080" y="415152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CITY  (M ·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9"/>
          <p:cNvSpPr/>
          <p:nvPr/>
        </p:nvSpPr>
        <p:spPr>
          <a:xfrm>
            <a:off x="1097280" y="4279320"/>
            <a:ext cx="594360" cy="3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0"/>
          <p:cNvSpPr/>
          <p:nvPr/>
        </p:nvSpPr>
        <p:spPr>
          <a:xfrm>
            <a:off x="4023360" y="1353240"/>
            <a:ext cx="4937040" cy="319968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1"/>
          <p:cNvSpPr/>
          <p:nvPr/>
        </p:nvSpPr>
        <p:spPr>
          <a:xfrm>
            <a:off x="4160520" y="1417320"/>
            <a:ext cx="4662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XML Concepts — Defined from This Map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2"/>
          <p:cNvSpPr/>
          <p:nvPr/>
        </p:nvSpPr>
        <p:spPr>
          <a:xfrm>
            <a:off x="4160520" y="1810440"/>
            <a:ext cx="54000" cy="502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3"/>
          <p:cNvSpPr/>
          <p:nvPr/>
        </p:nvSpPr>
        <p:spPr>
          <a:xfrm>
            <a:off x="4316040" y="1828800"/>
            <a:ext cx="447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Element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4"/>
          <p:cNvSpPr/>
          <p:nvPr/>
        </p:nvSpPr>
        <p:spPr>
          <a:xfrm>
            <a:off x="4316040" y="2039040"/>
            <a:ext cx="447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Every node in the OUTPUT tree is an XML Element.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Example: &lt;OUTPUT&gt;, &lt;DATA&gt;, &lt;NAME&gt;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5"/>
          <p:cNvSpPr/>
          <p:nvPr/>
        </p:nvSpPr>
        <p:spPr>
          <a:xfrm>
            <a:off x="4160520" y="2523600"/>
            <a:ext cx="54000" cy="502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6"/>
          <p:cNvSpPr/>
          <p:nvPr/>
        </p:nvSpPr>
        <p:spPr>
          <a:xfrm>
            <a:off x="4316040" y="2541960"/>
            <a:ext cx="447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PCDATA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7"/>
          <p:cNvSpPr/>
          <p:nvPr/>
        </p:nvSpPr>
        <p:spPr>
          <a:xfrm>
            <a:off x="4316040" y="2752200"/>
            <a:ext cx="447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Parsed Character Data — the text content inside a leaf element.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Example: &lt;NAME&gt;shashank&lt;/NAME&gt;  →  'shashank' is PCDATA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8"/>
          <p:cNvSpPr/>
          <p:nvPr/>
        </p:nvSpPr>
        <p:spPr>
          <a:xfrm>
            <a:off x="4160520" y="3237120"/>
            <a:ext cx="54000" cy="502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9"/>
          <p:cNvSpPr/>
          <p:nvPr/>
        </p:nvSpPr>
        <p:spPr>
          <a:xfrm>
            <a:off x="4316040" y="3255120"/>
            <a:ext cx="447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Content Particle (Sequence)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0"/>
          <p:cNvSpPr/>
          <p:nvPr/>
        </p:nvSpPr>
        <p:spPr>
          <a:xfrm>
            <a:off x="4316040" y="3465720"/>
            <a:ext cx="447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Child elements of &lt;DATA&gt; appear in a fixed sequence: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NAME → AMOUNT → INVOICE → DATE → CITY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1"/>
          <p:cNvSpPr/>
          <p:nvPr/>
        </p:nvSpPr>
        <p:spPr>
          <a:xfrm>
            <a:off x="4160520" y="3950280"/>
            <a:ext cx="54000" cy="502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2"/>
          <p:cNvSpPr/>
          <p:nvPr/>
        </p:nvSpPr>
        <p:spPr>
          <a:xfrm>
            <a:off x="4316040" y="3968640"/>
            <a:ext cx="447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M / C Usage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3"/>
          <p:cNvSpPr/>
          <p:nvPr/>
        </p:nvSpPr>
        <p:spPr>
          <a:xfrm>
            <a:off x="4316040" y="4178880"/>
            <a:ext cx="447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M = Mandatory (must appear), C = Conditional (optional).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&lt;OUTPUT&gt; is M·1. &lt;DATA&gt; is C·0..999 (loop up to 999 rows)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Creating Records and Fields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Right-click in the Map Editor tree → New Record / New Field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5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228600" y="1078920"/>
            <a:ext cx="4296960" cy="351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320040" y="11156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Map Editor — INPUT / OUTPUT tree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9"/>
          <p:cNvSpPr/>
          <p:nvPr/>
        </p:nvSpPr>
        <p:spPr>
          <a:xfrm>
            <a:off x="320040" y="1389600"/>
            <a:ext cx="4114800" cy="360"/>
          </a:xfrm>
          <a:prstGeom prst="line">
            <a:avLst/>
          </a:prstGeom>
          <a:ln w="12700">
            <a:solidFill>
              <a:srgbClr val="D0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0"/>
          <p:cNvSpPr/>
          <p:nvPr/>
        </p:nvSpPr>
        <p:spPr>
          <a:xfrm>
            <a:off x="320040" y="1426320"/>
            <a:ext cx="4114080" cy="3016800"/>
          </a:xfrm>
          <a:prstGeom prst="rect">
            <a:avLst/>
          </a:prstGeom>
          <a:solidFill>
            <a:srgbClr val="1E2B32"/>
          </a:solidFill>
          <a:ln w="12700">
            <a:solidFill>
              <a:srgbClr val="0D2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384120" y="146304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INPUT · M ·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384120" y="165492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 ● Header · C ·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384120" y="184716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01 emp_id_lbl   String 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384120" y="203904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02 emp_name_lbl String 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384120" y="223128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03 emp_salary_lbl String 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384120" y="242316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 ● Employee_Data · C · 9999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384120" y="261504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01 emp_id      Numeric 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384120" y="280728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02 emp_name    String 100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9"/>
          <p:cNvSpPr/>
          <p:nvPr/>
        </p:nvSpPr>
        <p:spPr>
          <a:xfrm>
            <a:off x="384120" y="299916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03 emp_salary  Numeric 15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0"/>
          <p:cNvSpPr/>
          <p:nvPr/>
        </p:nvSpPr>
        <p:spPr>
          <a:xfrm>
            <a:off x="384120" y="319140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04 department  String 50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1"/>
          <p:cNvSpPr/>
          <p:nvPr/>
        </p:nvSpPr>
        <p:spPr>
          <a:xfrm>
            <a:off x="384120" y="338328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05 branchname  String 50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2"/>
          <p:cNvSpPr/>
          <p:nvPr/>
        </p:nvSpPr>
        <p:spPr>
          <a:xfrm>
            <a:off x="384120" y="357516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06 gender      String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3"/>
          <p:cNvSpPr/>
          <p:nvPr/>
        </p:nvSpPr>
        <p:spPr>
          <a:xfrm>
            <a:off x="384120" y="376740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07 join_date   String 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4"/>
          <p:cNvSpPr/>
          <p:nvPr/>
        </p:nvSpPr>
        <p:spPr>
          <a:xfrm>
            <a:off x="384120" y="3959280"/>
            <a:ext cx="3976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[F] 08 status_code String 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5"/>
          <p:cNvSpPr/>
          <p:nvPr/>
        </p:nvSpPr>
        <p:spPr>
          <a:xfrm>
            <a:off x="4709160" y="1078920"/>
            <a:ext cx="4205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How to build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6"/>
          <p:cNvSpPr/>
          <p:nvPr/>
        </p:nvSpPr>
        <p:spPr>
          <a:xfrm>
            <a:off x="4709160" y="1417320"/>
            <a:ext cx="273600" cy="273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7"/>
          <p:cNvSpPr/>
          <p:nvPr/>
        </p:nvSpPr>
        <p:spPr>
          <a:xfrm>
            <a:off x="4709160" y="14173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8"/>
          <p:cNvSpPr/>
          <p:nvPr/>
        </p:nvSpPr>
        <p:spPr>
          <a:xfrm>
            <a:off x="5074920" y="141732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Create Record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9"/>
          <p:cNvSpPr/>
          <p:nvPr/>
        </p:nvSpPr>
        <p:spPr>
          <a:xfrm>
            <a:off x="5074920" y="16732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Right-click INPUT (or OUTPUT) → New → Sub Record.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Name it (e.g. Header, Employee_Data).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0"/>
          <p:cNvSpPr/>
          <p:nvPr/>
        </p:nvSpPr>
        <p:spPr>
          <a:xfrm>
            <a:off x="4709160" y="2075760"/>
            <a:ext cx="273600" cy="273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1"/>
          <p:cNvSpPr/>
          <p:nvPr/>
        </p:nvSpPr>
        <p:spPr>
          <a:xfrm>
            <a:off x="4709160" y="20757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2"/>
          <p:cNvSpPr/>
          <p:nvPr/>
        </p:nvSpPr>
        <p:spPr>
          <a:xfrm>
            <a:off x="5074920" y="207576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Set max usage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3"/>
          <p:cNvSpPr/>
          <p:nvPr/>
        </p:nvSpPr>
        <p:spPr>
          <a:xfrm>
            <a:off x="5074920" y="233172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C·1 for a single header, C·9999 for a repeating detail record.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4"/>
          <p:cNvSpPr/>
          <p:nvPr/>
        </p:nvSpPr>
        <p:spPr>
          <a:xfrm>
            <a:off x="4709160" y="2734200"/>
            <a:ext cx="273600" cy="273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5"/>
          <p:cNvSpPr/>
          <p:nvPr/>
        </p:nvSpPr>
        <p:spPr>
          <a:xfrm>
            <a:off x="4709160" y="2734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6"/>
          <p:cNvSpPr/>
          <p:nvPr/>
        </p:nvSpPr>
        <p:spPr>
          <a:xfrm>
            <a:off x="5074920" y="273420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Add Fields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7"/>
          <p:cNvSpPr/>
          <p:nvPr/>
        </p:nvSpPr>
        <p:spPr>
          <a:xfrm>
            <a:off x="5074920" y="299016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Right-click the record → New → Field.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Give Name, Type (String / Numeric) and Length.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8"/>
          <p:cNvSpPr/>
          <p:nvPr/>
        </p:nvSpPr>
        <p:spPr>
          <a:xfrm>
            <a:off x="4709160" y="3392280"/>
            <a:ext cx="273600" cy="273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9"/>
          <p:cNvSpPr/>
          <p:nvPr/>
        </p:nvSpPr>
        <p:spPr>
          <a:xfrm>
            <a:off x="4709160" y="33922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0"/>
          <p:cNvSpPr/>
          <p:nvPr/>
        </p:nvSpPr>
        <p:spPr>
          <a:xfrm>
            <a:off x="5074920" y="339228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Map to XML side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1"/>
          <p:cNvSpPr/>
          <p:nvPr/>
        </p:nvSpPr>
        <p:spPr>
          <a:xfrm>
            <a:off x="5074920" y="36486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OUTPUT tree mirrors the XML schema: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OUTPUT → DATA (loop) → leaf elements.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2"/>
          <p:cNvSpPr/>
          <p:nvPr/>
        </p:nvSpPr>
        <p:spPr>
          <a:xfrm>
            <a:off x="4709160" y="4050720"/>
            <a:ext cx="273600" cy="273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3"/>
          <p:cNvSpPr/>
          <p:nvPr/>
        </p:nvSpPr>
        <p:spPr>
          <a:xfrm>
            <a:off x="4709160" y="40507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4"/>
          <p:cNvSpPr/>
          <p:nvPr/>
        </p:nvSpPr>
        <p:spPr>
          <a:xfrm>
            <a:off x="5074920" y="405072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Link fields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5"/>
          <p:cNvSpPr/>
          <p:nvPr/>
        </p:nvSpPr>
        <p:spPr>
          <a:xfrm>
            <a:off x="5074920" y="43066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Drag from input field to matching output PCDATA field to draw mapping line.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 Field-to-Field Mapping Details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Source CSV fields → Target XML PCDATA elements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6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9" name="Table 0"/>
          <p:cNvGraphicFramePr/>
          <p:nvPr/>
        </p:nvGraphicFramePr>
        <p:xfrm>
          <a:off x="228600" y="1051560"/>
          <a:ext cx="7772040" cy="331848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320040"/>
                <a:gridCol w="1691640"/>
                <a:gridCol w="1005840"/>
                <a:gridCol w="2331720"/>
              </a:tblGrid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Source Field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 / Size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Target XML Element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 / Size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Transformation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emp_id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Numeric 10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emp_id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20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Prefix: 'EMP-' + ntoa()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emp_name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100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emp_name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100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Direct map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emp_salary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Numeric 15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monthly_pay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Numeric R2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Divide by 12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department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50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department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50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Direct map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branchname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50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branchname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50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toUpperCase()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gender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full_gender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6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Codelist: M→Male, F→Female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join_date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10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years_service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Numeric N0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2026 − right(join_date,4)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status_code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employment_status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10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Codelist: FT/PT→Full Time/Part Time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emp_salary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Numeric 15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bonus_eligible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 15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IF salary&gt;50000 THEN Yes ELSE No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emp_salary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Numeric 15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annual_tax  (PCDATA)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Numeric R2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334E5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salary × 0.20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5E0E6"/>
                      </a:solidFill>
                      <a:prstDash val="solid"/>
                    </a:lnL>
                    <a:lnR w="6480">
                      <a:solidFill>
                        <a:srgbClr val="C5E0E6"/>
                      </a:solidFill>
                      <a:prstDash val="solid"/>
                    </a:lnR>
                    <a:lnT w="6480">
                      <a:solidFill>
                        <a:srgbClr val="C5E0E6"/>
                      </a:solidFill>
                      <a:prstDash val="solid"/>
                    </a:lnT>
                    <a:lnB w="6480">
                      <a:solidFill>
                        <a:srgbClr val="C5E0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10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6. Extended Rules  ·  Computed Fields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Sterling scripting language transforms data during translation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7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228600" y="1078920"/>
            <a:ext cx="42512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228600" y="1078920"/>
            <a:ext cx="4251240" cy="255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301680" y="1097280"/>
            <a:ext cx="4141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emp_id  →  emp_id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228600" y="1334880"/>
            <a:ext cx="4251240" cy="474840"/>
          </a:xfrm>
          <a:prstGeom prst="rect">
            <a:avLst/>
          </a:prstGeom>
          <a:solidFill>
            <a:srgbClr val="1E2B32"/>
          </a:solidFill>
          <a:ln w="12700">
            <a:solidFill>
              <a:srgbClr val="1E2B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301680" y="1334880"/>
            <a:ext cx="414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ntoa($Employee_Data.#emp_id, s);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#emp_id = "EMP-" + s;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301680" y="1847160"/>
            <a:ext cx="414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ntoa() converts numeric to string, then prefixes 'EMP-'.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Input: 101  →  Output: EMP-101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3"/>
          <p:cNvSpPr/>
          <p:nvPr/>
        </p:nvSpPr>
        <p:spPr>
          <a:xfrm>
            <a:off x="4663440" y="1078920"/>
            <a:ext cx="42512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4"/>
          <p:cNvSpPr/>
          <p:nvPr/>
        </p:nvSpPr>
        <p:spPr>
          <a:xfrm>
            <a:off x="4663440" y="1078920"/>
            <a:ext cx="4251240" cy="255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4736520" y="1097280"/>
            <a:ext cx="4141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emp_salary  →  monthly_pay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6"/>
          <p:cNvSpPr/>
          <p:nvPr/>
        </p:nvSpPr>
        <p:spPr>
          <a:xfrm>
            <a:off x="4663440" y="1334880"/>
            <a:ext cx="4251240" cy="474840"/>
          </a:xfrm>
          <a:prstGeom prst="rect">
            <a:avLst/>
          </a:prstGeom>
          <a:solidFill>
            <a:srgbClr val="1E2B32"/>
          </a:solidFill>
          <a:ln w="12700">
            <a:solidFill>
              <a:srgbClr val="1E2B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4736520" y="1334880"/>
            <a:ext cx="414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#monthly_pay = ($Employee_Data.#emp_salary)/12;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4736520" y="1847160"/>
            <a:ext cx="414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Divides annual salary by 12.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Input: 60000  →  Output: 5000.00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9"/>
          <p:cNvSpPr/>
          <p:nvPr/>
        </p:nvSpPr>
        <p:spPr>
          <a:xfrm>
            <a:off x="228600" y="2359080"/>
            <a:ext cx="42512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0"/>
          <p:cNvSpPr/>
          <p:nvPr/>
        </p:nvSpPr>
        <p:spPr>
          <a:xfrm>
            <a:off x="228600" y="2359080"/>
            <a:ext cx="4251240" cy="255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301680" y="2377440"/>
            <a:ext cx="4141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branchname  →  branchname (uppercase)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2"/>
          <p:cNvSpPr/>
          <p:nvPr/>
        </p:nvSpPr>
        <p:spPr>
          <a:xfrm>
            <a:off x="228600" y="2615040"/>
            <a:ext cx="4251240" cy="474840"/>
          </a:xfrm>
          <a:prstGeom prst="rect">
            <a:avLst/>
          </a:prstGeom>
          <a:solidFill>
            <a:srgbClr val="1E2B32"/>
          </a:solidFill>
          <a:ln w="12700">
            <a:solidFill>
              <a:srgbClr val="1E2B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3"/>
          <p:cNvSpPr/>
          <p:nvPr/>
        </p:nvSpPr>
        <p:spPr>
          <a:xfrm>
            <a:off x="301680" y="2615040"/>
            <a:ext cx="414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ob = new("java.lang.String", #branchname);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#branchname = ob.toUpperCase();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4"/>
          <p:cNvSpPr/>
          <p:nvPr/>
        </p:nvSpPr>
        <p:spPr>
          <a:xfrm>
            <a:off x="301680" y="3127320"/>
            <a:ext cx="414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Calls Java String.toUpperCase() via Sterling's object API.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Input: Vizag  →  Output: VIZAG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5"/>
          <p:cNvSpPr/>
          <p:nvPr/>
        </p:nvSpPr>
        <p:spPr>
          <a:xfrm>
            <a:off x="4663440" y="2359080"/>
            <a:ext cx="42512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6"/>
          <p:cNvSpPr/>
          <p:nvPr/>
        </p:nvSpPr>
        <p:spPr>
          <a:xfrm>
            <a:off x="4663440" y="2359080"/>
            <a:ext cx="4251240" cy="255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7"/>
          <p:cNvSpPr/>
          <p:nvPr/>
        </p:nvSpPr>
        <p:spPr>
          <a:xfrm>
            <a:off x="4736520" y="2377440"/>
            <a:ext cx="4141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join_date  →  years_service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8"/>
          <p:cNvSpPr/>
          <p:nvPr/>
        </p:nvSpPr>
        <p:spPr>
          <a:xfrm>
            <a:off x="4663440" y="2615040"/>
            <a:ext cx="4251240" cy="474840"/>
          </a:xfrm>
          <a:prstGeom prst="rect">
            <a:avLst/>
          </a:prstGeom>
          <a:solidFill>
            <a:srgbClr val="1E2B32"/>
          </a:solidFill>
          <a:ln w="12700">
            <a:solidFill>
              <a:srgbClr val="1E2B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9"/>
          <p:cNvSpPr/>
          <p:nvPr/>
        </p:nvSpPr>
        <p:spPr>
          <a:xfrm>
            <a:off x="4736520" y="2615040"/>
            <a:ext cx="414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d = right($Employee_Data.#join_date, 4);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#years_service = 2026 - atoi(d);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0"/>
          <p:cNvSpPr/>
          <p:nvPr/>
        </p:nvSpPr>
        <p:spPr>
          <a:xfrm>
            <a:off x="4736520" y="3127320"/>
            <a:ext cx="414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Extracts 4-char year from right of DD/MM/YYYY, subtracts from 2026.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Input: 01/01/2016  →  Output: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1"/>
          <p:cNvSpPr/>
          <p:nvPr/>
        </p:nvSpPr>
        <p:spPr>
          <a:xfrm>
            <a:off x="228600" y="3639240"/>
            <a:ext cx="42512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2"/>
          <p:cNvSpPr/>
          <p:nvPr/>
        </p:nvSpPr>
        <p:spPr>
          <a:xfrm>
            <a:off x="228600" y="3639240"/>
            <a:ext cx="4251240" cy="255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3"/>
          <p:cNvSpPr/>
          <p:nvPr/>
        </p:nvSpPr>
        <p:spPr>
          <a:xfrm>
            <a:off x="301680" y="3657600"/>
            <a:ext cx="4141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emp_salary  →  bonus_eligible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4"/>
          <p:cNvSpPr/>
          <p:nvPr/>
        </p:nvSpPr>
        <p:spPr>
          <a:xfrm>
            <a:off x="228600" y="3895200"/>
            <a:ext cx="4251240" cy="474840"/>
          </a:xfrm>
          <a:prstGeom prst="rect">
            <a:avLst/>
          </a:prstGeom>
          <a:solidFill>
            <a:srgbClr val="1E2B32"/>
          </a:solidFill>
          <a:ln w="12700">
            <a:solidFill>
              <a:srgbClr val="1E2B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5"/>
          <p:cNvSpPr/>
          <p:nvPr/>
        </p:nvSpPr>
        <p:spPr>
          <a:xfrm>
            <a:off x="301680" y="3895200"/>
            <a:ext cx="414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IF $Employee_Data.#emp_salary &gt; 50000 THEN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#bonus_eligible = "Yes";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ELSE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#bonus_eligible = "No";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6"/>
          <p:cNvSpPr/>
          <p:nvPr/>
        </p:nvSpPr>
        <p:spPr>
          <a:xfrm>
            <a:off x="301680" y="4407480"/>
            <a:ext cx="414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Conditional salary threshold check.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Input: 45000  →  No  |  Input: 72000  →  Yes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7"/>
          <p:cNvSpPr/>
          <p:nvPr/>
        </p:nvSpPr>
        <p:spPr>
          <a:xfrm>
            <a:off x="4663440" y="3639240"/>
            <a:ext cx="42512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8"/>
          <p:cNvSpPr/>
          <p:nvPr/>
        </p:nvSpPr>
        <p:spPr>
          <a:xfrm>
            <a:off x="4663440" y="3639240"/>
            <a:ext cx="4251240" cy="255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9"/>
          <p:cNvSpPr/>
          <p:nvPr/>
        </p:nvSpPr>
        <p:spPr>
          <a:xfrm>
            <a:off x="4736520" y="3657600"/>
            <a:ext cx="4141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emp_salary  →  annual_tax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0"/>
          <p:cNvSpPr/>
          <p:nvPr/>
        </p:nvSpPr>
        <p:spPr>
          <a:xfrm>
            <a:off x="4663440" y="3895200"/>
            <a:ext cx="4251240" cy="474840"/>
          </a:xfrm>
          <a:prstGeom prst="rect">
            <a:avLst/>
          </a:prstGeom>
          <a:solidFill>
            <a:srgbClr val="1E2B32"/>
          </a:solidFill>
          <a:ln w="12700">
            <a:solidFill>
              <a:srgbClr val="1E2B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1"/>
          <p:cNvSpPr/>
          <p:nvPr/>
        </p:nvSpPr>
        <p:spPr>
          <a:xfrm>
            <a:off x="4736520" y="3895200"/>
            <a:ext cx="414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#annual_tax = ($Employee_Data.#emp_salary)*0.20;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2"/>
          <p:cNvSpPr/>
          <p:nvPr/>
        </p:nvSpPr>
        <p:spPr>
          <a:xfrm>
            <a:off x="4736520" y="4407480"/>
            <a:ext cx="414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Flat 20% tax calculation.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Input: 60000  →  Output: 12000.00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7. Codelists  ·  Lookup Translation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Sterling codelists act as in-map lookup tables — no hardcoding needed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8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228600" y="1078920"/>
            <a:ext cx="4114080" cy="191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228600" y="1078920"/>
            <a:ext cx="4114080" cy="365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365760" y="111564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GENDER  Codelist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5" name="Table 0"/>
          <p:cNvGraphicFramePr/>
          <p:nvPr/>
        </p:nvGraphicFramePr>
        <p:xfrm>
          <a:off x="320040" y="1508760"/>
          <a:ext cx="3840120" cy="82296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solidFill>
                      <a:srgbClr val="015F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Description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solidFill>
                      <a:srgbClr val="015F6B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Female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6" name="Text 10"/>
          <p:cNvSpPr/>
          <p:nvPr/>
        </p:nvSpPr>
        <p:spPr>
          <a:xfrm>
            <a:off x="320040" y="242316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USE CODE rule on full_gender PCDATA: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 gender 'M' → Output 'Male'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1"/>
          <p:cNvSpPr/>
          <p:nvPr/>
        </p:nvSpPr>
        <p:spPr>
          <a:xfrm>
            <a:off x="4572000" y="1078920"/>
            <a:ext cx="4114080" cy="191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4572000" y="1078920"/>
            <a:ext cx="4114080" cy="365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4709160" y="111564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STATUS  Codelist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0" name="Table 1"/>
          <p:cNvGraphicFramePr/>
          <p:nvPr/>
        </p:nvGraphicFramePr>
        <p:xfrm>
          <a:off x="4663440" y="1508760"/>
          <a:ext cx="3840120" cy="82296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solidFill>
                      <a:srgbClr val="015F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Description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solidFill>
                      <a:srgbClr val="015F6B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 Time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 Time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EC"/>
                      </a:solidFill>
                      <a:prstDash val="solid"/>
                    </a:lnL>
                    <a:lnR w="6480">
                      <a:solidFill>
                        <a:srgbClr val="D0E8EC"/>
                      </a:solidFill>
                      <a:prstDash val="solid"/>
                    </a:lnR>
                    <a:lnT w="6480">
                      <a:solidFill>
                        <a:srgbClr val="D0E8EC"/>
                      </a:solidFill>
                      <a:prstDash val="solid"/>
                    </a:lnT>
                    <a:lnB w="6480">
                      <a:solidFill>
                        <a:srgbClr val="D0E8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1" name="Text 14"/>
          <p:cNvSpPr/>
          <p:nvPr/>
        </p:nvSpPr>
        <p:spPr>
          <a:xfrm>
            <a:off x="4663440" y="242316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USE CODE rule on employment_status PCDATA: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Input status_code 'FT' → Output 'Full Time'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228600" y="3182040"/>
            <a:ext cx="8686080" cy="150804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365760" y="32461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How to create and apply a Codelist in Map Editor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365760" y="3547800"/>
            <a:ext cx="8411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1. In Map Editor, go to Edit → Codelists → New Codelist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2. Name the codelist (e.g. GENDER) and add rows: Code = M, Description = Male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3. Select the target PCDATA field (e.g. full_gender)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4. In Field Properties → Standard Rule → Use Codelist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5. Pick codelist GENDER, Store Field = full_gender, Mode = Exclusive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 Saving and Compiling the 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From .mxl source to .txo translation object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9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7"/>
          <p:cNvSpPr/>
          <p:nvPr/>
        </p:nvSpPr>
        <p:spPr>
          <a:xfrm>
            <a:off x="228600" y="1188720"/>
            <a:ext cx="1965240" cy="265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8"/>
          <p:cNvSpPr/>
          <p:nvPr/>
        </p:nvSpPr>
        <p:spPr>
          <a:xfrm>
            <a:off x="228600" y="1188720"/>
            <a:ext cx="1965240" cy="547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9"/>
          <p:cNvSpPr/>
          <p:nvPr/>
        </p:nvSpPr>
        <p:spPr>
          <a:xfrm>
            <a:off x="228600" y="1188720"/>
            <a:ext cx="1965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320040" y="178308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Save .mxl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320040" y="2121480"/>
            <a:ext cx="1782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File → Save (Ctrl+S)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Stores source as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CSV_XML_SSY.mxl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2"/>
          <p:cNvSpPr/>
          <p:nvPr/>
        </p:nvSpPr>
        <p:spPr>
          <a:xfrm>
            <a:off x="2194560" y="2514600"/>
            <a:ext cx="228600" cy="360"/>
          </a:xfrm>
          <a:prstGeom prst="line">
            <a:avLst/>
          </a:prstGeom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3"/>
          <p:cNvSpPr/>
          <p:nvPr/>
        </p:nvSpPr>
        <p:spPr>
          <a:xfrm>
            <a:off x="2423160" y="1188720"/>
            <a:ext cx="1965240" cy="265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2423160" y="1188720"/>
            <a:ext cx="1965240" cy="547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2423160" y="1188720"/>
            <a:ext cx="1965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2514600" y="178308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Validate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2514600" y="2121480"/>
            <a:ext cx="1782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File → Compile (F8)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Map Editor checks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structure &amp; links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8"/>
          <p:cNvSpPr/>
          <p:nvPr/>
        </p:nvSpPr>
        <p:spPr>
          <a:xfrm>
            <a:off x="4389120" y="2514600"/>
            <a:ext cx="228600" cy="360"/>
          </a:xfrm>
          <a:prstGeom prst="line">
            <a:avLst/>
          </a:prstGeom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4617720" y="1188720"/>
            <a:ext cx="1965240" cy="265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0"/>
          <p:cNvSpPr/>
          <p:nvPr/>
        </p:nvSpPr>
        <p:spPr>
          <a:xfrm>
            <a:off x="4617720" y="1188720"/>
            <a:ext cx="1965240" cy="5479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4617720" y="1188720"/>
            <a:ext cx="1965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4709160" y="178308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Compile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4709160" y="2121480"/>
            <a:ext cx="1782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Generates .txo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translation object 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Compiled Maps folder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4"/>
          <p:cNvSpPr/>
          <p:nvPr/>
        </p:nvSpPr>
        <p:spPr>
          <a:xfrm>
            <a:off x="6583680" y="2514600"/>
            <a:ext cx="228600" cy="360"/>
          </a:xfrm>
          <a:prstGeom prst="line">
            <a:avLst/>
          </a:prstGeom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5"/>
          <p:cNvSpPr/>
          <p:nvPr/>
        </p:nvSpPr>
        <p:spPr>
          <a:xfrm>
            <a:off x="6812280" y="1188720"/>
            <a:ext cx="1965240" cy="265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6"/>
          <p:cNvSpPr/>
          <p:nvPr/>
        </p:nvSpPr>
        <p:spPr>
          <a:xfrm>
            <a:off x="6812280" y="1188720"/>
            <a:ext cx="1965240" cy="547920"/>
          </a:xfrm>
          <a:prstGeom prst="rect">
            <a:avLst/>
          </a:prstGeom>
          <a:solidFill>
            <a:srgbClr val="334E58"/>
          </a:solidFill>
          <a:ln w="12700">
            <a:solidFill>
              <a:srgbClr val="334E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7"/>
          <p:cNvSpPr/>
          <p:nvPr/>
        </p:nvSpPr>
        <p:spPr>
          <a:xfrm>
            <a:off x="6812280" y="1188720"/>
            <a:ext cx="1965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8"/>
          <p:cNvSpPr/>
          <p:nvPr/>
        </p:nvSpPr>
        <p:spPr>
          <a:xfrm>
            <a:off x="6903720" y="178308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Deploy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9"/>
          <p:cNvSpPr/>
          <p:nvPr/>
        </p:nvSpPr>
        <p:spPr>
          <a:xfrm>
            <a:off x="6903720" y="2121480"/>
            <a:ext cx="1782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Upload the .txo 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Sterling B2B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Integrator server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0"/>
          <p:cNvSpPr/>
          <p:nvPr/>
        </p:nvSpPr>
        <p:spPr>
          <a:xfrm>
            <a:off x="228600" y="3931920"/>
            <a:ext cx="8686080" cy="84060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1"/>
          <p:cNvSpPr/>
          <p:nvPr/>
        </p:nvSpPr>
        <p:spPr>
          <a:xfrm>
            <a:off x="365760" y="40050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Files produced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2"/>
          <p:cNvSpPr/>
          <p:nvPr/>
        </p:nvSpPr>
        <p:spPr>
          <a:xfrm>
            <a:off x="365760" y="4279320"/>
            <a:ext cx="8320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CSV_XML_SSY.mxl  —  Map source file — opened and edited in Map Editor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3"/>
          <p:cNvSpPr/>
          <p:nvPr/>
        </p:nvSpPr>
        <p:spPr>
          <a:xfrm>
            <a:off x="365760" y="4425840"/>
            <a:ext cx="8320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CSV_XML_SSY.txo  —  Compiled translation object — uploaded to the server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4"/>
          <p:cNvSpPr/>
          <p:nvPr/>
        </p:nvSpPr>
        <p:spPr>
          <a:xfrm>
            <a:off x="365760" y="4572000"/>
            <a:ext cx="8320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MapTestTxReport.xml  —  XML validation / translation report from test run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9. Running the Map — Map Test Dialog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File → Map Test connects to the Sterling server and runs the translation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10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7"/>
          <p:cNvSpPr/>
          <p:nvPr/>
        </p:nvSpPr>
        <p:spPr>
          <a:xfrm>
            <a:off x="228600" y="1078920"/>
            <a:ext cx="4754160" cy="34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228600" y="1078920"/>
            <a:ext cx="4754160" cy="365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365760" y="1115640"/>
            <a:ext cx="4479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Map Test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365760" y="1554480"/>
            <a:ext cx="4388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Login Server and dashboard port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365760" y="1774080"/>
            <a:ext cx="4388400" cy="236880"/>
          </a:xfrm>
          <a:prstGeom prst="rect">
            <a:avLst/>
          </a:prstGeom>
          <a:solidFill>
            <a:srgbClr val="EEF8FA"/>
          </a:solidFill>
          <a:ln w="12700">
            <a:solidFill>
              <a:srgbClr val="C5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457200" y="1774080"/>
            <a:ext cx="4205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192.168.128.157:52033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365760" y="2066400"/>
            <a:ext cx="4388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Login Server User Name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365760" y="2286000"/>
            <a:ext cx="4388400" cy="236880"/>
          </a:xfrm>
          <a:prstGeom prst="rect">
            <a:avLst/>
          </a:prstGeom>
          <a:solidFill>
            <a:srgbClr val="EEF8FA"/>
          </a:solidFill>
          <a:ln w="12700">
            <a:solidFill>
              <a:srgbClr val="C5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457200" y="2286000"/>
            <a:ext cx="4205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EDINOV_SSY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365760" y="2578680"/>
            <a:ext cx="4388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Login Server User Password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7"/>
          <p:cNvSpPr/>
          <p:nvPr/>
        </p:nvSpPr>
        <p:spPr>
          <a:xfrm>
            <a:off x="365760" y="2797920"/>
            <a:ext cx="4388400" cy="236880"/>
          </a:xfrm>
          <a:prstGeom prst="rect">
            <a:avLst/>
          </a:prstGeom>
          <a:solidFill>
            <a:srgbClr val="EEF8FA"/>
          </a:solidFill>
          <a:ln w="12700">
            <a:solidFill>
              <a:srgbClr val="C5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457200" y="2797920"/>
            <a:ext cx="4205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**********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9"/>
          <p:cNvSpPr/>
          <p:nvPr/>
        </p:nvSpPr>
        <p:spPr>
          <a:xfrm>
            <a:off x="365760" y="3090600"/>
            <a:ext cx="4388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Translation Object (.txo)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0"/>
          <p:cNvSpPr/>
          <p:nvPr/>
        </p:nvSpPr>
        <p:spPr>
          <a:xfrm>
            <a:off x="365760" y="3310200"/>
            <a:ext cx="4388400" cy="236880"/>
          </a:xfrm>
          <a:prstGeom prst="rect">
            <a:avLst/>
          </a:prstGeom>
          <a:solidFill>
            <a:srgbClr val="EEF8FA"/>
          </a:solidFill>
          <a:ln w="12700">
            <a:solidFill>
              <a:srgbClr val="C5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1"/>
          <p:cNvSpPr/>
          <p:nvPr/>
        </p:nvSpPr>
        <p:spPr>
          <a:xfrm>
            <a:off x="457200" y="3310200"/>
            <a:ext cx="4205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C:\...\Compiled Maps\CSV_XML_SSY.txo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2"/>
          <p:cNvSpPr/>
          <p:nvPr/>
        </p:nvSpPr>
        <p:spPr>
          <a:xfrm>
            <a:off x="365760" y="3602880"/>
            <a:ext cx="4388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Data File (input)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3"/>
          <p:cNvSpPr/>
          <p:nvPr/>
        </p:nvSpPr>
        <p:spPr>
          <a:xfrm>
            <a:off x="365760" y="3822120"/>
            <a:ext cx="4388400" cy="236880"/>
          </a:xfrm>
          <a:prstGeom prst="rect">
            <a:avLst/>
          </a:prstGeom>
          <a:solidFill>
            <a:srgbClr val="EEF8FA"/>
          </a:solidFill>
          <a:ln w="12700">
            <a:solidFill>
              <a:srgbClr val="C5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4"/>
          <p:cNvSpPr/>
          <p:nvPr/>
        </p:nvSpPr>
        <p:spPr>
          <a:xfrm>
            <a:off x="457200" y="3822120"/>
            <a:ext cx="4205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B32"/>
                </a:solidFill>
                <a:effectLst/>
                <a:uFillTx/>
                <a:latin typeface="Consolas"/>
                <a:ea typeface="Consolas"/>
              </a:rPr>
              <a:t>C:\Users\ssy\...\sample.txt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5"/>
          <p:cNvSpPr/>
          <p:nvPr/>
        </p:nvSpPr>
        <p:spPr>
          <a:xfrm>
            <a:off x="3200400" y="4206240"/>
            <a:ext cx="1370880" cy="273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6"/>
          <p:cNvSpPr/>
          <p:nvPr/>
        </p:nvSpPr>
        <p:spPr>
          <a:xfrm>
            <a:off x="3200400" y="420624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Run Test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7"/>
          <p:cNvSpPr/>
          <p:nvPr/>
        </p:nvSpPr>
        <p:spPr>
          <a:xfrm>
            <a:off x="5166360" y="1078920"/>
            <a:ext cx="3748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What each field does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8"/>
          <p:cNvSpPr/>
          <p:nvPr/>
        </p:nvSpPr>
        <p:spPr>
          <a:xfrm>
            <a:off x="5166360" y="1444680"/>
            <a:ext cx="54000" cy="383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9"/>
          <p:cNvSpPr/>
          <p:nvPr/>
        </p:nvSpPr>
        <p:spPr>
          <a:xfrm>
            <a:off x="5321880" y="144468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Server : 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0"/>
          <p:cNvSpPr/>
          <p:nvPr/>
        </p:nvSpPr>
        <p:spPr>
          <a:xfrm>
            <a:off x="5321880" y="164592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Sterling B2B Integrator host + dashboard port (e.g. 52033)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1"/>
          <p:cNvSpPr/>
          <p:nvPr/>
        </p:nvSpPr>
        <p:spPr>
          <a:xfrm>
            <a:off x="5166360" y="1956960"/>
            <a:ext cx="54000" cy="383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2"/>
          <p:cNvSpPr/>
          <p:nvPr/>
        </p:nvSpPr>
        <p:spPr>
          <a:xfrm>
            <a:off x="5321880" y="19569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Username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3"/>
          <p:cNvSpPr/>
          <p:nvPr/>
        </p:nvSpPr>
        <p:spPr>
          <a:xfrm>
            <a:off x="5321880" y="215784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Sterling account authorized to run maps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4"/>
          <p:cNvSpPr/>
          <p:nvPr/>
        </p:nvSpPr>
        <p:spPr>
          <a:xfrm>
            <a:off x="5166360" y="2468880"/>
            <a:ext cx="54000" cy="383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5"/>
          <p:cNvSpPr/>
          <p:nvPr/>
        </p:nvSpPr>
        <p:spPr>
          <a:xfrm>
            <a:off x="5321880" y="246888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Password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6"/>
          <p:cNvSpPr/>
          <p:nvPr/>
        </p:nvSpPr>
        <p:spPr>
          <a:xfrm>
            <a:off x="5321880" y="267012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Sterling account password — sent over API call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37"/>
          <p:cNvSpPr/>
          <p:nvPr/>
        </p:nvSpPr>
        <p:spPr>
          <a:xfrm>
            <a:off x="5166360" y="2980800"/>
            <a:ext cx="54000" cy="383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8"/>
          <p:cNvSpPr/>
          <p:nvPr/>
        </p:nvSpPr>
        <p:spPr>
          <a:xfrm>
            <a:off x="5321880" y="298080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Translation Object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9"/>
          <p:cNvSpPr/>
          <p:nvPr/>
        </p:nvSpPr>
        <p:spPr>
          <a:xfrm>
            <a:off x="5321880" y="318204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Compiled .txo file uploaded to the server for execution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0"/>
          <p:cNvSpPr/>
          <p:nvPr/>
        </p:nvSpPr>
        <p:spPr>
          <a:xfrm>
            <a:off x="5166360" y="3493080"/>
            <a:ext cx="54000" cy="383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1"/>
          <p:cNvSpPr/>
          <p:nvPr/>
        </p:nvSpPr>
        <p:spPr>
          <a:xfrm>
            <a:off x="5321880" y="349308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Data File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2"/>
          <p:cNvSpPr/>
          <p:nvPr/>
        </p:nvSpPr>
        <p:spPr>
          <a:xfrm>
            <a:off x="5321880" y="369432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Source CSV used as input for this test run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43"/>
          <p:cNvSpPr/>
          <p:nvPr/>
        </p:nvSpPr>
        <p:spPr>
          <a:xfrm>
            <a:off x="5166360" y="4005000"/>
            <a:ext cx="54000" cy="383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5321880" y="400500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Run Test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5"/>
          <p:cNvSpPr/>
          <p:nvPr/>
        </p:nvSpPr>
        <p:spPr>
          <a:xfrm>
            <a:off x="5321880" y="420624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Sends a translate HTTP request to the Sterling server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109800" y="0"/>
            <a:ext cx="9033480" cy="685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274320" y="730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10. Result &amp; Translation Report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274320" y="68580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What you see in MapTestTxResult.txt and MapTestTxReport.xml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4"/>
          <p:cNvSpPr/>
          <p:nvPr/>
        </p:nvSpPr>
        <p:spPr>
          <a:xfrm>
            <a:off x="109800" y="4892040"/>
            <a:ext cx="9033480" cy="250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274320" y="4892040"/>
            <a:ext cx="6400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IBM Sterling B2B Integrator  ·  Map Editor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7772400" y="4892040"/>
            <a:ext cx="1370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Slide 11 /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228600" y="1078920"/>
            <a:ext cx="4159800" cy="342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320040" y="111564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MapTestTxResult.txt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9"/>
          <p:cNvSpPr/>
          <p:nvPr/>
        </p:nvSpPr>
        <p:spPr>
          <a:xfrm>
            <a:off x="320040" y="1389600"/>
            <a:ext cx="3931920" cy="360"/>
          </a:xfrm>
          <a:prstGeom prst="line">
            <a:avLst/>
          </a:prstGeom>
          <a:ln w="12700">
            <a:solidFill>
              <a:srgbClr val="D0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0"/>
          <p:cNvSpPr/>
          <p:nvPr/>
        </p:nvSpPr>
        <p:spPr>
          <a:xfrm>
            <a:off x="320040" y="1426320"/>
            <a:ext cx="3976920" cy="2925360"/>
          </a:xfrm>
          <a:prstGeom prst="rect">
            <a:avLst/>
          </a:prstGeom>
          <a:solidFill>
            <a:srgbClr val="1E2B32"/>
          </a:solidFill>
          <a:ln w="12700">
            <a:solidFill>
              <a:srgbClr val="0D2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1"/>
          <p:cNvSpPr/>
          <p:nvPr/>
        </p:nvSpPr>
        <p:spPr>
          <a:xfrm>
            <a:off x="384120" y="146304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EC8D0"/>
                </a:solidFill>
                <a:effectLst/>
                <a:uFillTx/>
                <a:latin typeface="Consolas"/>
                <a:ea typeface="Consolas"/>
              </a:rPr>
              <a:t>&lt;?xml version="1.0" encoding="UTF-8"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2"/>
          <p:cNvSpPr/>
          <p:nvPr/>
        </p:nvSpPr>
        <p:spPr>
          <a:xfrm>
            <a:off x="384120" y="168264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     standalone="yes" ?&gt;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3"/>
          <p:cNvSpPr/>
          <p:nvPr/>
        </p:nvSpPr>
        <p:spPr>
          <a:xfrm>
            <a:off x="384120" y="190188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&lt;OUTPUT&gt;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4"/>
          <p:cNvSpPr/>
          <p:nvPr/>
        </p:nvSpPr>
        <p:spPr>
          <a:xfrm>
            <a:off x="384120" y="212148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&lt;DATA&gt;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5"/>
          <p:cNvSpPr/>
          <p:nvPr/>
        </p:nvSpPr>
        <p:spPr>
          <a:xfrm>
            <a:off x="384120" y="234072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&lt;NAME&gt;shashank&lt;/NAME&gt;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6"/>
          <p:cNvSpPr/>
          <p:nvPr/>
        </p:nvSpPr>
        <p:spPr>
          <a:xfrm>
            <a:off x="384120" y="256032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&lt;AMOUNT&gt;1000&lt;/AMOUNT&gt;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7"/>
          <p:cNvSpPr/>
          <p:nvPr/>
        </p:nvSpPr>
        <p:spPr>
          <a:xfrm>
            <a:off x="384120" y="277992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&lt;INVOICE&gt;INV001&lt;/INVOICE&gt;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8"/>
          <p:cNvSpPr/>
          <p:nvPr/>
        </p:nvSpPr>
        <p:spPr>
          <a:xfrm>
            <a:off x="384120" y="299916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&lt;DATE&gt;20260120&lt;/DATE&gt;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9"/>
          <p:cNvSpPr/>
          <p:nvPr/>
        </p:nvSpPr>
        <p:spPr>
          <a:xfrm>
            <a:off x="384120" y="321876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  &lt;CITY&gt;Vizianagaram&lt;/CITY&gt;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0"/>
          <p:cNvSpPr/>
          <p:nvPr/>
        </p:nvSpPr>
        <p:spPr>
          <a:xfrm>
            <a:off x="384120" y="343800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 &lt;/DATA&gt;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1"/>
          <p:cNvSpPr/>
          <p:nvPr/>
        </p:nvSpPr>
        <p:spPr>
          <a:xfrm>
            <a:off x="384120" y="365760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&lt;DATA&gt;...&lt;/DATA&gt;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2"/>
          <p:cNvSpPr/>
          <p:nvPr/>
        </p:nvSpPr>
        <p:spPr>
          <a:xfrm>
            <a:off x="384120" y="3877200"/>
            <a:ext cx="3839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&lt;/OUTPUT&gt;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3"/>
          <p:cNvSpPr/>
          <p:nvPr/>
        </p:nvSpPr>
        <p:spPr>
          <a:xfrm>
            <a:off x="4572000" y="1078920"/>
            <a:ext cx="4342680" cy="150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4"/>
          <p:cNvSpPr/>
          <p:nvPr/>
        </p:nvSpPr>
        <p:spPr>
          <a:xfrm>
            <a:off x="4663440" y="11156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MapTestTxReport.xml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5"/>
          <p:cNvSpPr/>
          <p:nvPr/>
        </p:nvSpPr>
        <p:spPr>
          <a:xfrm>
            <a:off x="4663440" y="1389600"/>
            <a:ext cx="4114800" cy="360"/>
          </a:xfrm>
          <a:prstGeom prst="line">
            <a:avLst/>
          </a:prstGeom>
          <a:ln w="12700">
            <a:solidFill>
              <a:srgbClr val="D0E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6"/>
          <p:cNvSpPr/>
          <p:nvPr/>
        </p:nvSpPr>
        <p:spPr>
          <a:xfrm>
            <a:off x="4663440" y="1426320"/>
            <a:ext cx="4159800" cy="639360"/>
          </a:xfrm>
          <a:prstGeom prst="rect">
            <a:avLst/>
          </a:prstGeom>
          <a:solidFill>
            <a:srgbClr val="1E2B32"/>
          </a:solidFill>
          <a:ln w="12700">
            <a:solidFill>
              <a:srgbClr val="0D2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7"/>
          <p:cNvSpPr/>
          <p:nvPr/>
        </p:nvSpPr>
        <p:spPr>
          <a:xfrm>
            <a:off x="4736520" y="1444680"/>
            <a:ext cx="39769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&lt;TranslationReport&gt;&lt;![CDATA[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[Translation report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D8EA"/>
                </a:solidFill>
                <a:effectLst/>
                <a:uFillTx/>
                <a:latin typeface="Consolas"/>
                <a:ea typeface="Consolas"/>
              </a:rPr>
              <a:t> contains no data.]]&gt;&lt;/TranslationReport&gt;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8"/>
          <p:cNvSpPr/>
          <p:nvPr/>
        </p:nvSpPr>
        <p:spPr>
          <a:xfrm>
            <a:off x="4572000" y="2670120"/>
            <a:ext cx="4342680" cy="639360"/>
          </a:xfrm>
          <a:prstGeom prst="rect">
            <a:avLst/>
          </a:prstGeom>
          <a:solidFill>
            <a:srgbClr val="E0F4F6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9"/>
          <p:cNvSpPr/>
          <p:nvPr/>
        </p:nvSpPr>
        <p:spPr>
          <a:xfrm>
            <a:off x="4663440" y="2724840"/>
            <a:ext cx="4114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15F6B"/>
                </a:solidFill>
                <a:effectLst/>
                <a:uFillTx/>
                <a:latin typeface="Calibri"/>
                <a:ea typeface="Calibri"/>
              </a:rPr>
              <a:t>Empty report = clean run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0"/>
          <p:cNvSpPr/>
          <p:nvPr/>
        </p:nvSpPr>
        <p:spPr>
          <a:xfrm>
            <a:off x="4663440" y="294444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34E58"/>
                </a:solidFill>
                <a:effectLst/>
                <a:uFillTx/>
                <a:latin typeface="Calibri"/>
                <a:ea typeface="Calibri"/>
              </a:rPr>
              <a:t>'contains no data' = no validation errors. Errors and warnings appear inside the CDATA block.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31"/>
          <p:cNvSpPr/>
          <p:nvPr/>
        </p:nvSpPr>
        <p:spPr>
          <a:xfrm>
            <a:off x="4572000" y="3401640"/>
            <a:ext cx="4342680" cy="105984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E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2"/>
          <p:cNvSpPr/>
          <p:nvPr/>
        </p:nvSpPr>
        <p:spPr>
          <a:xfrm>
            <a:off x="4709160" y="3465720"/>
            <a:ext cx="4068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End-to-end recap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3"/>
          <p:cNvSpPr/>
          <p:nvPr/>
        </p:nvSpPr>
        <p:spPr>
          <a:xfrm>
            <a:off x="4709160" y="3749040"/>
            <a:ext cx="4068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0F4F6"/>
                </a:solidFill>
                <a:effectLst/>
                <a:uFillTx/>
                <a:latin typeface="Calibri"/>
                <a:ea typeface="Calibri"/>
              </a:rPr>
              <a:t>CSV input → Map Editor design → Compile .txo → Map Test sends to Sterling server (host:port + creds) → Server translates → Returns XML result + Translation report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"/>
          <p:cNvPicPr/>
          <p:nvPr/>
        </p:nvPicPr>
        <p:blipFill>
          <a:blip r:embed="rId1"/>
          <a:stretch/>
        </p:blipFill>
        <p:spPr>
          <a:xfrm>
            <a:off x="7543800" y="142200"/>
            <a:ext cx="1504440" cy="4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LibreOffice/26.2.3.2$MacOSX_AARCH64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2026-06-04T20:13:53Z</dcterms:created>
  <dc:creator>PptxGenJS</dc:creator>
  <dc:description/>
  <dc:language>en-US</dc:language>
  <cp:lastModifiedBy/>
  <dcterms:modified xsi:type="dcterms:W3CDTF">2026-06-04T16:36:40Z</dcterms:modified>
  <cp:revision>3</cp:revision>
  <dc:subject>PptxGenJS Presentation</dc:subject>
  <dc:title>CSV to XML Mapping - IBM Sterling B2B Integrator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